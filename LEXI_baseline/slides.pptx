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y Grotesk Wide" panose="020B0604020202020204" charset="0"/>
      <p:regular r:id="rId17"/>
    </p:embeddedFont>
    <p:embeddedFont>
      <p:font typeface="Cy Grotesk Wide Bold" panose="020B0604020202020204" charset="0"/>
      <p:regular r:id="rId18"/>
    </p:embeddedFont>
    <p:embeddedFont>
      <p:font typeface="Lastica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48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2127816" y="1364772"/>
            <a:ext cx="14032368" cy="622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spc="832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SAIRUS: LLM-BASED CLASSIFICATION AND SYNTHETIC RELATIONSHIP GENERATION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62821" y="8253724"/>
            <a:ext cx="10562357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WALTER MANGIONE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20652" y="3572062"/>
            <a:ext cx="1185586" cy="1286139"/>
          </a:xfrm>
          <a:custGeom>
            <a:avLst/>
            <a:gdLst/>
            <a:ahLst/>
            <a:cxnLst/>
            <a:rect l="l" t="t" r="r" b="b"/>
            <a:pathLst>
              <a:path w="1185586" h="1286139">
                <a:moveTo>
                  <a:pt x="0" y="0"/>
                </a:moveTo>
                <a:lnTo>
                  <a:pt x="1185586" y="0"/>
                </a:lnTo>
                <a:lnTo>
                  <a:pt x="1185586" y="1286138"/>
                </a:lnTo>
                <a:lnTo>
                  <a:pt x="0" y="1286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9306344">
            <a:off x="-1396895" y="7420117"/>
            <a:ext cx="7006267" cy="7216192"/>
          </a:xfrm>
          <a:custGeom>
            <a:avLst/>
            <a:gdLst/>
            <a:ahLst/>
            <a:cxnLst/>
            <a:rect l="l" t="t" r="r" b="b"/>
            <a:pathLst>
              <a:path w="7006267" h="7216192">
                <a:moveTo>
                  <a:pt x="0" y="0"/>
                </a:moveTo>
                <a:lnTo>
                  <a:pt x="7006267" y="0"/>
                </a:lnTo>
                <a:lnTo>
                  <a:pt x="7006267" y="7216193"/>
                </a:lnTo>
                <a:lnTo>
                  <a:pt x="0" y="7216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028700" y="6761930"/>
            <a:ext cx="1165281" cy="1332442"/>
          </a:xfrm>
          <a:custGeom>
            <a:avLst/>
            <a:gdLst/>
            <a:ahLst/>
            <a:cxnLst/>
            <a:rect l="l" t="t" r="r" b="b"/>
            <a:pathLst>
              <a:path w="1165281" h="1332442">
                <a:moveTo>
                  <a:pt x="0" y="0"/>
                </a:moveTo>
                <a:lnTo>
                  <a:pt x="1165281" y="0"/>
                </a:lnTo>
                <a:lnTo>
                  <a:pt x="1165281" y="1332442"/>
                </a:lnTo>
                <a:lnTo>
                  <a:pt x="0" y="1332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5" name="Group 5"/>
          <p:cNvGrpSpPr/>
          <p:nvPr/>
        </p:nvGrpSpPr>
        <p:grpSpPr>
          <a:xfrm>
            <a:off x="2739722" y="2725289"/>
            <a:ext cx="4062970" cy="684158"/>
            <a:chOff x="0" y="0"/>
            <a:chExt cx="1070083" cy="1801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0083" cy="180190"/>
            </a:xfrm>
            <a:custGeom>
              <a:avLst/>
              <a:gdLst/>
              <a:ahLst/>
              <a:cxnLst/>
              <a:rect l="l" t="t" r="r" b="b"/>
              <a:pathLst>
                <a:path w="1070083" h="180190">
                  <a:moveTo>
                    <a:pt x="90095" y="0"/>
                  </a:moveTo>
                  <a:lnTo>
                    <a:pt x="979988" y="0"/>
                  </a:lnTo>
                  <a:cubicBezTo>
                    <a:pt x="1003882" y="0"/>
                    <a:pt x="1026798" y="9492"/>
                    <a:pt x="1043694" y="26388"/>
                  </a:cubicBezTo>
                  <a:cubicBezTo>
                    <a:pt x="1060590" y="43284"/>
                    <a:pt x="1070083" y="66200"/>
                    <a:pt x="1070083" y="90095"/>
                  </a:cubicBezTo>
                  <a:lnTo>
                    <a:pt x="1070083" y="90095"/>
                  </a:lnTo>
                  <a:cubicBezTo>
                    <a:pt x="1070083" y="113990"/>
                    <a:pt x="1060590" y="136906"/>
                    <a:pt x="1043694" y="153802"/>
                  </a:cubicBezTo>
                  <a:cubicBezTo>
                    <a:pt x="1026798" y="170698"/>
                    <a:pt x="1003882" y="180190"/>
                    <a:pt x="979988" y="180190"/>
                  </a:cubicBezTo>
                  <a:lnTo>
                    <a:pt x="90095" y="180190"/>
                  </a:lnTo>
                  <a:cubicBezTo>
                    <a:pt x="66200" y="180190"/>
                    <a:pt x="43284" y="170698"/>
                    <a:pt x="26388" y="153802"/>
                  </a:cubicBezTo>
                  <a:cubicBezTo>
                    <a:pt x="9492" y="136906"/>
                    <a:pt x="0" y="113990"/>
                    <a:pt x="0" y="90095"/>
                  </a:cubicBezTo>
                  <a:lnTo>
                    <a:pt x="0" y="90095"/>
                  </a:lnTo>
                  <a:cubicBezTo>
                    <a:pt x="0" y="66200"/>
                    <a:pt x="9492" y="43284"/>
                    <a:pt x="26388" y="26388"/>
                  </a:cubicBezTo>
                  <a:cubicBezTo>
                    <a:pt x="43284" y="9492"/>
                    <a:pt x="66200" y="0"/>
                    <a:pt x="90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3C6CA8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0083" cy="227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9306344">
            <a:off x="10687769" y="-5016010"/>
            <a:ext cx="11334696" cy="11674313"/>
          </a:xfrm>
          <a:custGeom>
            <a:avLst/>
            <a:gdLst/>
            <a:ahLst/>
            <a:cxnLst/>
            <a:rect l="l" t="t" r="r" b="b"/>
            <a:pathLst>
              <a:path w="11334696" h="11674313">
                <a:moveTo>
                  <a:pt x="0" y="0"/>
                </a:moveTo>
                <a:lnTo>
                  <a:pt x="11334696" y="0"/>
                </a:lnTo>
                <a:lnTo>
                  <a:pt x="11334696" y="11674313"/>
                </a:lnTo>
                <a:lnTo>
                  <a:pt x="0" y="116743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TextBox 9"/>
          <p:cNvSpPr txBox="1"/>
          <p:nvPr/>
        </p:nvSpPr>
        <p:spPr>
          <a:xfrm>
            <a:off x="4978544" y="838200"/>
            <a:ext cx="8330913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714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OBJECTIVES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72722" y="2735581"/>
            <a:ext cx="3596969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QUESTION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39722" y="3580131"/>
            <a:ext cx="14519578" cy="133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What are limitations of LLMs in classification? </a:t>
            </a:r>
          </a:p>
          <a:p>
            <a:pPr algn="l">
              <a:lnSpc>
                <a:spcPts val="3500"/>
              </a:lnSpc>
            </a:pPr>
            <a:r>
              <a:rPr lang="en-US" sz="3500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How do the performances change with zero shot and few shot approach? 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739722" y="6077772"/>
            <a:ext cx="4262936" cy="684158"/>
            <a:chOff x="0" y="0"/>
            <a:chExt cx="1122749" cy="1801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22749" cy="180190"/>
            </a:xfrm>
            <a:custGeom>
              <a:avLst/>
              <a:gdLst/>
              <a:ahLst/>
              <a:cxnLst/>
              <a:rect l="l" t="t" r="r" b="b"/>
              <a:pathLst>
                <a:path w="1122749" h="180190">
                  <a:moveTo>
                    <a:pt x="90095" y="0"/>
                  </a:moveTo>
                  <a:lnTo>
                    <a:pt x="1032654" y="0"/>
                  </a:lnTo>
                  <a:cubicBezTo>
                    <a:pt x="1056548" y="0"/>
                    <a:pt x="1079464" y="9492"/>
                    <a:pt x="1096360" y="26388"/>
                  </a:cubicBezTo>
                  <a:cubicBezTo>
                    <a:pt x="1113256" y="43284"/>
                    <a:pt x="1122749" y="66200"/>
                    <a:pt x="1122749" y="90095"/>
                  </a:cubicBezTo>
                  <a:lnTo>
                    <a:pt x="1122749" y="90095"/>
                  </a:lnTo>
                  <a:cubicBezTo>
                    <a:pt x="1122749" y="113990"/>
                    <a:pt x="1113256" y="136906"/>
                    <a:pt x="1096360" y="153802"/>
                  </a:cubicBezTo>
                  <a:cubicBezTo>
                    <a:pt x="1079464" y="170698"/>
                    <a:pt x="1056548" y="180190"/>
                    <a:pt x="1032654" y="180190"/>
                  </a:cubicBezTo>
                  <a:lnTo>
                    <a:pt x="90095" y="180190"/>
                  </a:lnTo>
                  <a:cubicBezTo>
                    <a:pt x="66200" y="180190"/>
                    <a:pt x="43284" y="170698"/>
                    <a:pt x="26388" y="153802"/>
                  </a:cubicBezTo>
                  <a:cubicBezTo>
                    <a:pt x="9492" y="136906"/>
                    <a:pt x="0" y="113990"/>
                    <a:pt x="0" y="90095"/>
                  </a:cubicBezTo>
                  <a:lnTo>
                    <a:pt x="0" y="90095"/>
                  </a:lnTo>
                  <a:cubicBezTo>
                    <a:pt x="0" y="66200"/>
                    <a:pt x="9492" y="43284"/>
                    <a:pt x="26388" y="26388"/>
                  </a:cubicBezTo>
                  <a:cubicBezTo>
                    <a:pt x="43284" y="9492"/>
                    <a:pt x="66200" y="0"/>
                    <a:pt x="90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3C6CA8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122749" cy="227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918175" y="6088064"/>
            <a:ext cx="3884517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QUESTION 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39722" y="7012226"/>
            <a:ext cx="12749241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How can we generate synthetic relationships through an LLM?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78449" y="3311984"/>
            <a:ext cx="8115300" cy="3590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4000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In prompt engineering phase, we leveraged:</a:t>
            </a:r>
          </a:p>
          <a:p>
            <a:pPr algn="l">
              <a:lnSpc>
                <a:spcPts val="3500"/>
              </a:lnSpc>
            </a:pPr>
            <a:endParaRPr lang="en-US" sz="4000" dirty="0">
              <a:solidFill>
                <a:srgbClr val="3C6CA8"/>
              </a:solidFill>
              <a:latin typeface="Cy Grotesk Wide"/>
              <a:ea typeface="Cy Grotesk Wide"/>
              <a:cs typeface="Cy Grotesk Wide"/>
              <a:sym typeface="Cy Grotesk Wide"/>
            </a:endParaRPr>
          </a:p>
          <a:p>
            <a:pPr marL="755652" lvl="1" indent="-377826" algn="l">
              <a:lnSpc>
                <a:spcPts val="3500"/>
              </a:lnSpc>
              <a:buFont typeface="Arial"/>
              <a:buChar char="•"/>
            </a:pPr>
            <a:r>
              <a:rPr lang="en-US" sz="4000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Output priming</a:t>
            </a:r>
          </a:p>
          <a:p>
            <a:pPr marL="755652" lvl="1" indent="-377826" algn="l">
              <a:lnSpc>
                <a:spcPts val="3500"/>
              </a:lnSpc>
              <a:buFont typeface="Arial"/>
              <a:buChar char="•"/>
            </a:pPr>
            <a:r>
              <a:rPr lang="en-US" sz="4000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Special tokens</a:t>
            </a:r>
          </a:p>
          <a:p>
            <a:pPr marL="755652" lvl="1" indent="-377826" algn="l">
              <a:lnSpc>
                <a:spcPts val="3500"/>
              </a:lnSpc>
              <a:buFont typeface="Arial"/>
              <a:buChar char="•"/>
            </a:pPr>
            <a:r>
              <a:rPr lang="en-US" sz="4000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Temporal factor (for Few-Shot Learning)</a:t>
            </a:r>
          </a:p>
          <a:p>
            <a:pPr algn="l">
              <a:lnSpc>
                <a:spcPts val="3500"/>
              </a:lnSpc>
            </a:pPr>
            <a:endParaRPr lang="en-US" sz="4000" dirty="0">
              <a:solidFill>
                <a:srgbClr val="3C6CA8"/>
              </a:solidFill>
              <a:latin typeface="Cy Grotesk Wide"/>
              <a:ea typeface="Cy Grotesk Wide"/>
              <a:cs typeface="Cy Grotesk Wide"/>
              <a:sym typeface="Cy Grotesk Wide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7545407" cy="10287000"/>
            <a:chOff x="0" y="0"/>
            <a:chExt cx="1054893" cy="14381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4893" cy="1438184"/>
            </a:xfrm>
            <a:custGeom>
              <a:avLst/>
              <a:gdLst/>
              <a:ahLst/>
              <a:cxnLst/>
              <a:rect l="l" t="t" r="r" b="b"/>
              <a:pathLst>
                <a:path w="1054893" h="1438184">
                  <a:moveTo>
                    <a:pt x="0" y="0"/>
                  </a:moveTo>
                  <a:lnTo>
                    <a:pt x="1054893" y="0"/>
                  </a:lnTo>
                  <a:lnTo>
                    <a:pt x="1054893" y="1438184"/>
                  </a:lnTo>
                  <a:lnTo>
                    <a:pt x="0" y="1438184"/>
                  </a:lnTo>
                  <a:close/>
                </a:path>
              </a:pathLst>
            </a:custGeom>
            <a:blipFill>
              <a:blip r:embed="rId2"/>
              <a:stretch>
                <a:fillRect l="-52314" r="-52314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4840152" y="7500689"/>
            <a:ext cx="5410509" cy="5572622"/>
          </a:xfrm>
          <a:custGeom>
            <a:avLst/>
            <a:gdLst/>
            <a:ahLst/>
            <a:cxnLst/>
            <a:rect l="l" t="t" r="r" b="b"/>
            <a:pathLst>
              <a:path w="5410509" h="5572622">
                <a:moveTo>
                  <a:pt x="0" y="0"/>
                </a:moveTo>
                <a:lnTo>
                  <a:pt x="5410509" y="0"/>
                </a:lnTo>
                <a:lnTo>
                  <a:pt x="5410509" y="5572622"/>
                </a:lnTo>
                <a:lnTo>
                  <a:pt x="0" y="55726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4554045" y="-2158380"/>
            <a:ext cx="5410509" cy="5572622"/>
          </a:xfrm>
          <a:custGeom>
            <a:avLst/>
            <a:gdLst/>
            <a:ahLst/>
            <a:cxnLst/>
            <a:rect l="l" t="t" r="r" b="b"/>
            <a:pathLst>
              <a:path w="5410509" h="5572622">
                <a:moveTo>
                  <a:pt x="0" y="0"/>
                </a:moveTo>
                <a:lnTo>
                  <a:pt x="5410510" y="0"/>
                </a:lnTo>
                <a:lnTo>
                  <a:pt x="5410510" y="5572622"/>
                </a:lnTo>
                <a:lnTo>
                  <a:pt x="0" y="55726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8378449" y="494581"/>
            <a:ext cx="8402683" cy="245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000" b="1" spc="535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Prompt Engineering phase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212696">
            <a:off x="-2576439" y="2491000"/>
            <a:ext cx="11797975" cy="12151473"/>
          </a:xfrm>
          <a:custGeom>
            <a:avLst/>
            <a:gdLst/>
            <a:ahLst/>
            <a:cxnLst/>
            <a:rect l="l" t="t" r="r" b="b"/>
            <a:pathLst>
              <a:path w="11797975" h="12151473">
                <a:moveTo>
                  <a:pt x="0" y="0"/>
                </a:moveTo>
                <a:lnTo>
                  <a:pt x="11797975" y="0"/>
                </a:lnTo>
                <a:lnTo>
                  <a:pt x="11797975" y="12151472"/>
                </a:lnTo>
                <a:lnTo>
                  <a:pt x="0" y="1215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127338" y="-1811770"/>
            <a:ext cx="5840316" cy="6335648"/>
          </a:xfrm>
          <a:custGeom>
            <a:avLst/>
            <a:gdLst/>
            <a:ahLst/>
            <a:cxnLst/>
            <a:rect l="l" t="t" r="r" b="b"/>
            <a:pathLst>
              <a:path w="5840316" h="6335648">
                <a:moveTo>
                  <a:pt x="0" y="0"/>
                </a:moveTo>
                <a:lnTo>
                  <a:pt x="5840315" y="0"/>
                </a:lnTo>
                <a:lnTo>
                  <a:pt x="5840315" y="6335649"/>
                </a:lnTo>
                <a:lnTo>
                  <a:pt x="0" y="6335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600065" y="1028700"/>
            <a:ext cx="15087871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5"/>
              </a:lnSpc>
            </a:pPr>
            <a:r>
              <a:rPr lang="en-US" sz="6000" b="1" spc="535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ZERO-SHOT LEARNING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924050"/>
            <a:ext cx="16230600" cy="6285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 err="1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prompt_zero_shot</a:t>
            </a:r>
            <a:r>
              <a:rPr lang="en-US" sz="32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 = """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 </a:t>
            </a:r>
            <a:r>
              <a:rPr lang="en-US" sz="32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&lt;|</a:t>
            </a:r>
            <a:r>
              <a:rPr lang="en-US" sz="3200" b="1" dirty="0" err="1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begin_of_text</a:t>
            </a:r>
            <a:r>
              <a:rPr lang="en-US" sz="32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|&gt;&lt;|</a:t>
            </a:r>
            <a:r>
              <a:rPr lang="en-US" sz="3200" b="1" dirty="0" err="1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start_header_id</a:t>
            </a:r>
            <a:r>
              <a:rPr lang="en-US" sz="32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|&gt;system&lt;|</a:t>
            </a:r>
            <a:r>
              <a:rPr lang="en-US" sz="3200" b="1" dirty="0" err="1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end_header_id</a:t>
            </a:r>
            <a:r>
              <a:rPr lang="en-US" sz="32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|&gt;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 You role is a sentiment analysis assistant. Analyze the sentiment of the provided tweet and respond with a JSON object containing the sentiment classification, where '1' represents negative sentiment and '0' represents positive sentiment.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 </a:t>
            </a:r>
            <a:r>
              <a:rPr lang="en-US" sz="32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&lt;|</a:t>
            </a:r>
            <a:r>
              <a:rPr lang="en-US" sz="3200" b="1" dirty="0" err="1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start_header_id</a:t>
            </a:r>
            <a:r>
              <a:rPr lang="en-US" sz="32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|&gt;user&lt;|</a:t>
            </a:r>
            <a:r>
              <a:rPr lang="en-US" sz="3200" b="1" dirty="0" err="1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end_header_id</a:t>
            </a:r>
            <a:r>
              <a:rPr lang="en-US" sz="32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|&gt;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 Tweet: "{</a:t>
            </a:r>
            <a:r>
              <a:rPr lang="en-US" sz="3200" dirty="0" err="1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test_tweet</a:t>
            </a:r>
            <a:r>
              <a:rPr lang="en-US" sz="32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}"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 &lt;|</a:t>
            </a:r>
            <a:r>
              <a:rPr lang="en-US" sz="3200" b="1" dirty="0" err="1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start_header_id</a:t>
            </a:r>
            <a:r>
              <a:rPr lang="en-US" sz="32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|&gt;assistant&lt;|</a:t>
            </a:r>
            <a:r>
              <a:rPr lang="en-US" sz="3200" b="1" dirty="0" err="1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end_header_id</a:t>
            </a:r>
            <a:r>
              <a:rPr lang="en-US" sz="32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|&gt;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 {{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 "sentiment": """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212696">
            <a:off x="-2576439" y="2491000"/>
            <a:ext cx="11797975" cy="12151473"/>
          </a:xfrm>
          <a:custGeom>
            <a:avLst/>
            <a:gdLst/>
            <a:ahLst/>
            <a:cxnLst/>
            <a:rect l="l" t="t" r="r" b="b"/>
            <a:pathLst>
              <a:path w="11797975" h="12151473">
                <a:moveTo>
                  <a:pt x="0" y="0"/>
                </a:moveTo>
                <a:lnTo>
                  <a:pt x="11797975" y="0"/>
                </a:lnTo>
                <a:lnTo>
                  <a:pt x="11797975" y="12151472"/>
                </a:lnTo>
                <a:lnTo>
                  <a:pt x="0" y="1215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127338" y="-1811770"/>
            <a:ext cx="5840316" cy="6335648"/>
          </a:xfrm>
          <a:custGeom>
            <a:avLst/>
            <a:gdLst/>
            <a:ahLst/>
            <a:cxnLst/>
            <a:rect l="l" t="t" r="r" b="b"/>
            <a:pathLst>
              <a:path w="5840316" h="6335648">
                <a:moveTo>
                  <a:pt x="0" y="0"/>
                </a:moveTo>
                <a:lnTo>
                  <a:pt x="5840315" y="0"/>
                </a:lnTo>
                <a:lnTo>
                  <a:pt x="5840315" y="6335649"/>
                </a:lnTo>
                <a:lnTo>
                  <a:pt x="0" y="6335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600064" y="606407"/>
            <a:ext cx="15087871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5"/>
              </a:lnSpc>
            </a:pPr>
            <a:r>
              <a:rPr lang="en-US" sz="6000" b="1" spc="535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FEW-SHOT LEARNING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6146" y="1824721"/>
            <a:ext cx="8477089" cy="7303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7"/>
              </a:lnSpc>
              <a:spcBef>
                <a:spcPct val="0"/>
              </a:spcBef>
            </a:pPr>
            <a:r>
              <a:rPr lang="en-US" sz="2897" dirty="0" err="1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prompt_few_shot</a:t>
            </a:r>
            <a:r>
              <a:rPr lang="en-US" sz="2897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 = """</a:t>
            </a:r>
          </a:p>
          <a:p>
            <a:pPr algn="ctr">
              <a:lnSpc>
                <a:spcPts val="4057"/>
              </a:lnSpc>
              <a:spcBef>
                <a:spcPct val="0"/>
              </a:spcBef>
            </a:pPr>
            <a:r>
              <a:rPr lang="en-US" sz="2897" b="1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&lt;|</a:t>
            </a:r>
            <a:r>
              <a:rPr lang="en-US" sz="2897" b="1" dirty="0" err="1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begin_of_text</a:t>
            </a:r>
            <a:r>
              <a:rPr lang="en-US" sz="2897" b="1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|&gt;</a:t>
            </a:r>
            <a:r>
              <a:rPr lang="en-US" sz="2897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&lt;|</a:t>
            </a:r>
            <a:r>
              <a:rPr lang="en-US" sz="2897" b="1" dirty="0" err="1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start_header_id</a:t>
            </a:r>
            <a:r>
              <a:rPr lang="en-US" sz="2897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|&gt;system&lt;|</a:t>
            </a:r>
            <a:r>
              <a:rPr lang="en-US" sz="2897" b="1" dirty="0" err="1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end_header_id</a:t>
            </a:r>
            <a:r>
              <a:rPr lang="en-US" sz="2897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|&gt;</a:t>
            </a:r>
          </a:p>
          <a:p>
            <a:pPr algn="ctr">
              <a:lnSpc>
                <a:spcPts val="4057"/>
              </a:lnSpc>
              <a:spcBef>
                <a:spcPct val="0"/>
              </a:spcBef>
            </a:pPr>
            <a:r>
              <a:rPr lang="en-US" sz="2897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You are a sentiment analysis assistant. Analyze the sentiment of the provided tweet and respond with a JSON object containing the sentiment classification, where '1' represents negative sentiment and '0' represents positive sentiment.</a:t>
            </a:r>
          </a:p>
          <a:p>
            <a:pPr algn="ctr">
              <a:lnSpc>
                <a:spcPts val="4057"/>
              </a:lnSpc>
              <a:spcBef>
                <a:spcPct val="0"/>
              </a:spcBef>
            </a:pPr>
            <a:r>
              <a:rPr lang="en-US" sz="2897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 </a:t>
            </a:r>
          </a:p>
          <a:p>
            <a:pPr algn="ctr">
              <a:lnSpc>
                <a:spcPts val="4057"/>
              </a:lnSpc>
              <a:spcBef>
                <a:spcPct val="0"/>
              </a:spcBef>
            </a:pPr>
            <a:r>
              <a:rPr lang="en-US" sz="2897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Here are some improved few-shot examples to understand HOW to classify:</a:t>
            </a:r>
          </a:p>
          <a:p>
            <a:pPr algn="ctr">
              <a:lnSpc>
                <a:spcPts val="4057"/>
              </a:lnSpc>
              <a:spcBef>
                <a:spcPct val="0"/>
              </a:spcBef>
            </a:pPr>
            <a:endParaRPr lang="en-US" sz="2897" dirty="0">
              <a:solidFill>
                <a:srgbClr val="3C6CA8"/>
              </a:solidFill>
              <a:latin typeface="Cy Grotesk Wide" panose="020B0604020202020204" charset="0"/>
              <a:ea typeface="Cy Grotesk Wide"/>
              <a:cs typeface="Cy Grotesk Wide"/>
              <a:sym typeface="Cy Grotesk Wid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383235" y="1298905"/>
            <a:ext cx="8115300" cy="835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EXAMPLE 1: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Tweet: “[tweet]”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&lt;|</a:t>
            </a:r>
            <a:r>
              <a:rPr lang="en-US" sz="2900" b="1" dirty="0" err="1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start_header_id</a:t>
            </a:r>
            <a:r>
              <a:rPr lang="en-US" sz="29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|&gt;assistant&lt;|</a:t>
            </a:r>
            <a:r>
              <a:rPr lang="en-US" sz="2900" b="1" dirty="0" err="1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end_header_id</a:t>
            </a:r>
            <a:r>
              <a:rPr lang="en-US" sz="29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|&gt;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{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 "sentiment": 1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}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….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….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Now, analyze the following tweet: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Tweet: """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&lt;|</a:t>
            </a:r>
            <a:r>
              <a:rPr lang="en-US" sz="2900" b="1" dirty="0" err="1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start_header_id</a:t>
            </a:r>
            <a:r>
              <a:rPr lang="en-US" sz="29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|&gt;assistant&lt;|</a:t>
            </a:r>
            <a:r>
              <a:rPr lang="en-US" sz="2900" b="1" dirty="0" err="1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end_header_id</a:t>
            </a:r>
            <a:r>
              <a:rPr lang="en-US" sz="29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|&gt;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{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 "sentiment":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"""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212696">
            <a:off x="-2576439" y="2491000"/>
            <a:ext cx="11797975" cy="12151473"/>
          </a:xfrm>
          <a:custGeom>
            <a:avLst/>
            <a:gdLst/>
            <a:ahLst/>
            <a:cxnLst/>
            <a:rect l="l" t="t" r="r" b="b"/>
            <a:pathLst>
              <a:path w="11797975" h="12151473">
                <a:moveTo>
                  <a:pt x="0" y="0"/>
                </a:moveTo>
                <a:lnTo>
                  <a:pt x="11797975" y="0"/>
                </a:lnTo>
                <a:lnTo>
                  <a:pt x="11797975" y="12151472"/>
                </a:lnTo>
                <a:lnTo>
                  <a:pt x="0" y="1215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127338" y="-1811770"/>
            <a:ext cx="5840316" cy="6335648"/>
          </a:xfrm>
          <a:custGeom>
            <a:avLst/>
            <a:gdLst/>
            <a:ahLst/>
            <a:cxnLst/>
            <a:rect l="l" t="t" r="r" b="b"/>
            <a:pathLst>
              <a:path w="5840316" h="6335648">
                <a:moveTo>
                  <a:pt x="0" y="0"/>
                </a:moveTo>
                <a:lnTo>
                  <a:pt x="5840315" y="0"/>
                </a:lnTo>
                <a:lnTo>
                  <a:pt x="5840315" y="6335649"/>
                </a:lnTo>
                <a:lnTo>
                  <a:pt x="0" y="6335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721550" y="1028700"/>
            <a:ext cx="15087871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5"/>
              </a:lnSpc>
            </a:pPr>
            <a:r>
              <a:rPr lang="en-US" sz="6000" b="1" spc="535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OVERALL RESULTS</a:t>
            </a:r>
          </a:p>
        </p:txBody>
      </p:sp>
      <p:sp>
        <p:nvSpPr>
          <p:cNvPr id="5" name="Freeform 5"/>
          <p:cNvSpPr/>
          <p:nvPr/>
        </p:nvSpPr>
        <p:spPr>
          <a:xfrm>
            <a:off x="1478579" y="2012903"/>
            <a:ext cx="15330841" cy="7245397"/>
          </a:xfrm>
          <a:custGeom>
            <a:avLst/>
            <a:gdLst/>
            <a:ahLst/>
            <a:cxnLst/>
            <a:rect l="l" t="t" r="r" b="b"/>
            <a:pathLst>
              <a:path w="15330841" h="7245397">
                <a:moveTo>
                  <a:pt x="0" y="0"/>
                </a:moveTo>
                <a:lnTo>
                  <a:pt x="15330842" y="0"/>
                </a:lnTo>
                <a:lnTo>
                  <a:pt x="15330842" y="7245397"/>
                </a:lnTo>
                <a:lnTo>
                  <a:pt x="0" y="72453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212696">
            <a:off x="-2576439" y="2491000"/>
            <a:ext cx="11797975" cy="12151473"/>
          </a:xfrm>
          <a:custGeom>
            <a:avLst/>
            <a:gdLst/>
            <a:ahLst/>
            <a:cxnLst/>
            <a:rect l="l" t="t" r="r" b="b"/>
            <a:pathLst>
              <a:path w="11797975" h="12151473">
                <a:moveTo>
                  <a:pt x="0" y="0"/>
                </a:moveTo>
                <a:lnTo>
                  <a:pt x="11797975" y="0"/>
                </a:lnTo>
                <a:lnTo>
                  <a:pt x="11797975" y="12151472"/>
                </a:lnTo>
                <a:lnTo>
                  <a:pt x="0" y="1215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127338" y="-1811770"/>
            <a:ext cx="5840316" cy="6335648"/>
          </a:xfrm>
          <a:custGeom>
            <a:avLst/>
            <a:gdLst/>
            <a:ahLst/>
            <a:cxnLst/>
            <a:rect l="l" t="t" r="r" b="b"/>
            <a:pathLst>
              <a:path w="5840316" h="6335648">
                <a:moveTo>
                  <a:pt x="0" y="0"/>
                </a:moveTo>
                <a:lnTo>
                  <a:pt x="5840315" y="0"/>
                </a:lnTo>
                <a:lnTo>
                  <a:pt x="5840315" y="6335649"/>
                </a:lnTo>
                <a:lnTo>
                  <a:pt x="0" y="6335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721550" y="1028700"/>
            <a:ext cx="15087871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5"/>
              </a:lnSpc>
            </a:pPr>
            <a:r>
              <a:rPr lang="en-US" sz="6000" b="1" spc="535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ZERO-SHOT LEARNING</a:t>
            </a:r>
          </a:p>
        </p:txBody>
      </p:sp>
      <p:sp>
        <p:nvSpPr>
          <p:cNvPr id="5" name="Freeform 5"/>
          <p:cNvSpPr/>
          <p:nvPr/>
        </p:nvSpPr>
        <p:spPr>
          <a:xfrm>
            <a:off x="4319182" y="1923499"/>
            <a:ext cx="9892607" cy="7334801"/>
          </a:xfrm>
          <a:custGeom>
            <a:avLst/>
            <a:gdLst/>
            <a:ahLst/>
            <a:cxnLst/>
            <a:rect l="l" t="t" r="r" b="b"/>
            <a:pathLst>
              <a:path w="9892607" h="7334801">
                <a:moveTo>
                  <a:pt x="0" y="0"/>
                </a:moveTo>
                <a:lnTo>
                  <a:pt x="9892607" y="0"/>
                </a:lnTo>
                <a:lnTo>
                  <a:pt x="9892607" y="7334801"/>
                </a:lnTo>
                <a:lnTo>
                  <a:pt x="0" y="73348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965" b="-1965"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212696">
            <a:off x="-2576439" y="2491000"/>
            <a:ext cx="11797975" cy="12151473"/>
          </a:xfrm>
          <a:custGeom>
            <a:avLst/>
            <a:gdLst/>
            <a:ahLst/>
            <a:cxnLst/>
            <a:rect l="l" t="t" r="r" b="b"/>
            <a:pathLst>
              <a:path w="11797975" h="12151473">
                <a:moveTo>
                  <a:pt x="0" y="0"/>
                </a:moveTo>
                <a:lnTo>
                  <a:pt x="11797975" y="0"/>
                </a:lnTo>
                <a:lnTo>
                  <a:pt x="11797975" y="12151472"/>
                </a:lnTo>
                <a:lnTo>
                  <a:pt x="0" y="1215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127338" y="-1811770"/>
            <a:ext cx="5840316" cy="6335648"/>
          </a:xfrm>
          <a:custGeom>
            <a:avLst/>
            <a:gdLst/>
            <a:ahLst/>
            <a:cxnLst/>
            <a:rect l="l" t="t" r="r" b="b"/>
            <a:pathLst>
              <a:path w="5840316" h="6335648">
                <a:moveTo>
                  <a:pt x="0" y="0"/>
                </a:moveTo>
                <a:lnTo>
                  <a:pt x="5840315" y="0"/>
                </a:lnTo>
                <a:lnTo>
                  <a:pt x="5840315" y="6335649"/>
                </a:lnTo>
                <a:lnTo>
                  <a:pt x="0" y="6335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028700" y="702029"/>
            <a:ext cx="16230600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5"/>
              </a:lnSpc>
            </a:pPr>
            <a:r>
              <a:rPr lang="en-US" sz="6000" b="1" spc="535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FEW-SHOT LEARNING - 4 EXAMPLES</a:t>
            </a:r>
          </a:p>
        </p:txBody>
      </p:sp>
      <p:sp>
        <p:nvSpPr>
          <p:cNvPr id="5" name="Freeform 5"/>
          <p:cNvSpPr/>
          <p:nvPr/>
        </p:nvSpPr>
        <p:spPr>
          <a:xfrm>
            <a:off x="4313227" y="1866900"/>
            <a:ext cx="9661546" cy="7445074"/>
          </a:xfrm>
          <a:custGeom>
            <a:avLst/>
            <a:gdLst/>
            <a:ahLst/>
            <a:cxnLst/>
            <a:rect l="l" t="t" r="r" b="b"/>
            <a:pathLst>
              <a:path w="9661546" h="7445074">
                <a:moveTo>
                  <a:pt x="0" y="0"/>
                </a:moveTo>
                <a:lnTo>
                  <a:pt x="9661546" y="0"/>
                </a:lnTo>
                <a:lnTo>
                  <a:pt x="9661546" y="7445074"/>
                </a:lnTo>
                <a:lnTo>
                  <a:pt x="0" y="74450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212696">
            <a:off x="-2576439" y="2491000"/>
            <a:ext cx="11797975" cy="12151473"/>
          </a:xfrm>
          <a:custGeom>
            <a:avLst/>
            <a:gdLst/>
            <a:ahLst/>
            <a:cxnLst/>
            <a:rect l="l" t="t" r="r" b="b"/>
            <a:pathLst>
              <a:path w="11797975" h="12151473">
                <a:moveTo>
                  <a:pt x="0" y="0"/>
                </a:moveTo>
                <a:lnTo>
                  <a:pt x="11797975" y="0"/>
                </a:lnTo>
                <a:lnTo>
                  <a:pt x="11797975" y="12151472"/>
                </a:lnTo>
                <a:lnTo>
                  <a:pt x="0" y="1215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127338" y="-1811770"/>
            <a:ext cx="5840316" cy="6335648"/>
          </a:xfrm>
          <a:custGeom>
            <a:avLst/>
            <a:gdLst/>
            <a:ahLst/>
            <a:cxnLst/>
            <a:rect l="l" t="t" r="r" b="b"/>
            <a:pathLst>
              <a:path w="5840316" h="6335648">
                <a:moveTo>
                  <a:pt x="0" y="0"/>
                </a:moveTo>
                <a:lnTo>
                  <a:pt x="5840315" y="0"/>
                </a:lnTo>
                <a:lnTo>
                  <a:pt x="5840315" y="6335649"/>
                </a:lnTo>
                <a:lnTo>
                  <a:pt x="0" y="6335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028700" y="922536"/>
            <a:ext cx="16230600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5"/>
              </a:lnSpc>
            </a:pPr>
            <a:r>
              <a:rPr lang="en-US" sz="6000" b="1" spc="535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FEW-SHOT LEARNING - 8 EXAMPLES</a:t>
            </a:r>
          </a:p>
        </p:txBody>
      </p:sp>
      <p:sp>
        <p:nvSpPr>
          <p:cNvPr id="5" name="Freeform 5"/>
          <p:cNvSpPr/>
          <p:nvPr/>
        </p:nvSpPr>
        <p:spPr>
          <a:xfrm>
            <a:off x="4455377" y="2114883"/>
            <a:ext cx="9377246" cy="7225995"/>
          </a:xfrm>
          <a:custGeom>
            <a:avLst/>
            <a:gdLst/>
            <a:ahLst/>
            <a:cxnLst/>
            <a:rect l="l" t="t" r="r" b="b"/>
            <a:pathLst>
              <a:path w="9377246" h="7225995">
                <a:moveTo>
                  <a:pt x="0" y="0"/>
                </a:moveTo>
                <a:lnTo>
                  <a:pt x="9377246" y="0"/>
                </a:lnTo>
                <a:lnTo>
                  <a:pt x="9377246" y="7225995"/>
                </a:lnTo>
                <a:lnTo>
                  <a:pt x="0" y="722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76555" y="7500689"/>
            <a:ext cx="5410509" cy="5572622"/>
          </a:xfrm>
          <a:custGeom>
            <a:avLst/>
            <a:gdLst/>
            <a:ahLst/>
            <a:cxnLst/>
            <a:rect l="l" t="t" r="r" b="b"/>
            <a:pathLst>
              <a:path w="5410509" h="5572622">
                <a:moveTo>
                  <a:pt x="0" y="0"/>
                </a:moveTo>
                <a:lnTo>
                  <a:pt x="5410510" y="0"/>
                </a:lnTo>
                <a:lnTo>
                  <a:pt x="5410510" y="5572622"/>
                </a:lnTo>
                <a:lnTo>
                  <a:pt x="0" y="5572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10907688" y="0"/>
            <a:ext cx="7545407" cy="10287000"/>
            <a:chOff x="0" y="0"/>
            <a:chExt cx="1054893" cy="14381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4893" cy="1438184"/>
            </a:xfrm>
            <a:custGeom>
              <a:avLst/>
              <a:gdLst/>
              <a:ahLst/>
              <a:cxnLst/>
              <a:rect l="l" t="t" r="r" b="b"/>
              <a:pathLst>
                <a:path w="1054893" h="1438184">
                  <a:moveTo>
                    <a:pt x="0" y="0"/>
                  </a:moveTo>
                  <a:lnTo>
                    <a:pt x="1054893" y="0"/>
                  </a:lnTo>
                  <a:lnTo>
                    <a:pt x="1054893" y="1438184"/>
                  </a:lnTo>
                  <a:lnTo>
                    <a:pt x="0" y="1438184"/>
                  </a:lnTo>
                  <a:close/>
                </a:path>
              </a:pathLst>
            </a:custGeom>
            <a:blipFill>
              <a:blip r:embed="rId4"/>
              <a:stretch>
                <a:fillRect t="-4943" b="-494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37312" y="3960472"/>
            <a:ext cx="8889774" cy="4937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IDEA</a:t>
            </a: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: Treat the dataset as a user-item matrix and apply recommender system techniques.</a:t>
            </a:r>
          </a:p>
          <a:p>
            <a:pPr algn="l">
              <a:lnSpc>
                <a:spcPts val="3500"/>
              </a:lnSpc>
            </a:pPr>
            <a:endParaRPr lang="en-US" sz="3500" dirty="0">
              <a:solidFill>
                <a:srgbClr val="3C6CA8"/>
              </a:solidFill>
              <a:latin typeface="Cy Grotesk Wide" panose="020B0604020202020204" charset="0"/>
              <a:ea typeface="Cy Grotesk Wide"/>
              <a:cs typeface="Cy Grotesk Wide"/>
              <a:sym typeface="Cy Grotesk Wide"/>
            </a:endParaRPr>
          </a:p>
          <a:p>
            <a:pPr algn="l">
              <a:lnSpc>
                <a:spcPts val="3500"/>
              </a:lnSpc>
            </a:pP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Generate recommendations by leveraging </a:t>
            </a:r>
            <a:r>
              <a:rPr lang="en-US" sz="35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content</a:t>
            </a: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.</a:t>
            </a:r>
          </a:p>
          <a:p>
            <a:pPr algn="l">
              <a:lnSpc>
                <a:spcPts val="3500"/>
              </a:lnSpc>
            </a:pPr>
            <a:endParaRPr lang="en-US" sz="3500" dirty="0">
              <a:solidFill>
                <a:srgbClr val="3C6CA8"/>
              </a:solidFill>
              <a:latin typeface="Cy Grotesk Wide" panose="020B0604020202020204" charset="0"/>
              <a:ea typeface="Cy Grotesk Wide"/>
              <a:cs typeface="Cy Grotesk Wide"/>
              <a:sym typeface="Cy Grotesk Wide"/>
            </a:endParaRPr>
          </a:p>
          <a:p>
            <a:pPr algn="l">
              <a:lnSpc>
                <a:spcPts val="3500"/>
              </a:lnSpc>
            </a:pP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Query the LLM: "Given this user and this user (thought as item), would you recommend it?"</a:t>
            </a:r>
          </a:p>
          <a:p>
            <a:pPr algn="l">
              <a:lnSpc>
                <a:spcPts val="3500"/>
              </a:lnSpc>
            </a:pPr>
            <a:endParaRPr lang="en-US" sz="3500" dirty="0">
              <a:solidFill>
                <a:srgbClr val="3C6CA8"/>
              </a:solidFill>
              <a:latin typeface="Cy Grotesk Wide" panose="020B0604020202020204" charset="0"/>
              <a:ea typeface="Cy Grotesk Wide"/>
              <a:cs typeface="Cy Grotesk Wide"/>
              <a:sym typeface="Cy Grotesk Wide"/>
            </a:endParaRPr>
          </a:p>
        </p:txBody>
      </p:sp>
      <p:sp>
        <p:nvSpPr>
          <p:cNvPr id="6" name="Freeform 6"/>
          <p:cNvSpPr/>
          <p:nvPr/>
        </p:nvSpPr>
        <p:spPr>
          <a:xfrm rot="8679312">
            <a:off x="8489515" y="-2663571"/>
            <a:ext cx="5410509" cy="5572622"/>
          </a:xfrm>
          <a:custGeom>
            <a:avLst/>
            <a:gdLst/>
            <a:ahLst/>
            <a:cxnLst/>
            <a:rect l="l" t="t" r="r" b="b"/>
            <a:pathLst>
              <a:path w="5410509" h="5572622">
                <a:moveTo>
                  <a:pt x="0" y="0"/>
                </a:moveTo>
                <a:lnTo>
                  <a:pt x="5410509" y="0"/>
                </a:lnTo>
                <a:lnTo>
                  <a:pt x="5410509" y="5572622"/>
                </a:lnTo>
                <a:lnTo>
                  <a:pt x="0" y="5572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837312" y="536498"/>
            <a:ext cx="10070376" cy="3260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000" b="1" spc="535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CREATING CANDIDATE SYNTHETIC RELATIONSHIPS</a:t>
            </a: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212696">
            <a:off x="-2576439" y="2491000"/>
            <a:ext cx="11797975" cy="12151473"/>
          </a:xfrm>
          <a:custGeom>
            <a:avLst/>
            <a:gdLst/>
            <a:ahLst/>
            <a:cxnLst/>
            <a:rect l="l" t="t" r="r" b="b"/>
            <a:pathLst>
              <a:path w="11797975" h="12151473">
                <a:moveTo>
                  <a:pt x="0" y="0"/>
                </a:moveTo>
                <a:lnTo>
                  <a:pt x="11797975" y="0"/>
                </a:lnTo>
                <a:lnTo>
                  <a:pt x="11797975" y="12151472"/>
                </a:lnTo>
                <a:lnTo>
                  <a:pt x="0" y="1215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127338" y="-1811770"/>
            <a:ext cx="5840316" cy="6335648"/>
          </a:xfrm>
          <a:custGeom>
            <a:avLst/>
            <a:gdLst/>
            <a:ahLst/>
            <a:cxnLst/>
            <a:rect l="l" t="t" r="r" b="b"/>
            <a:pathLst>
              <a:path w="5840316" h="6335648">
                <a:moveTo>
                  <a:pt x="0" y="0"/>
                </a:moveTo>
                <a:lnTo>
                  <a:pt x="5840315" y="0"/>
                </a:lnTo>
                <a:lnTo>
                  <a:pt x="5840315" y="6335649"/>
                </a:lnTo>
                <a:lnTo>
                  <a:pt x="0" y="6335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028700" y="1028700"/>
            <a:ext cx="15087871" cy="1923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5"/>
              </a:lnSpc>
            </a:pPr>
            <a:r>
              <a:rPr lang="en-US" sz="6000" b="1" spc="535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CREATING CANDIDATE SYNTHETIC RELATIONSHIPS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952304"/>
            <a:ext cx="16230600" cy="3702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How to leverage content?</a:t>
            </a:r>
          </a:p>
          <a:p>
            <a:pPr marL="755651" lvl="1" indent="-377825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Discover hidden patterns;</a:t>
            </a:r>
          </a:p>
          <a:p>
            <a:pPr marL="755651" lvl="1" indent="-377825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Exploit synonymy;</a:t>
            </a:r>
          </a:p>
          <a:p>
            <a:pPr marL="755651" lvl="1" indent="-377825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Think step-by-step (</a:t>
            </a:r>
            <a:r>
              <a:rPr lang="en-US" sz="35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chain-of-thought</a:t>
            </a: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);</a:t>
            </a:r>
          </a:p>
          <a:p>
            <a:pPr marL="755651" lvl="1" indent="-377825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Few shot examples of recommendation (sampled by temporal sequences).</a:t>
            </a: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212696">
            <a:off x="-2576439" y="2491000"/>
            <a:ext cx="11797975" cy="12151473"/>
          </a:xfrm>
          <a:custGeom>
            <a:avLst/>
            <a:gdLst/>
            <a:ahLst/>
            <a:cxnLst/>
            <a:rect l="l" t="t" r="r" b="b"/>
            <a:pathLst>
              <a:path w="11797975" h="12151473">
                <a:moveTo>
                  <a:pt x="0" y="0"/>
                </a:moveTo>
                <a:lnTo>
                  <a:pt x="11797975" y="0"/>
                </a:lnTo>
                <a:lnTo>
                  <a:pt x="11797975" y="12151472"/>
                </a:lnTo>
                <a:lnTo>
                  <a:pt x="0" y="1215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127338" y="-1811770"/>
            <a:ext cx="5840316" cy="6335648"/>
          </a:xfrm>
          <a:custGeom>
            <a:avLst/>
            <a:gdLst/>
            <a:ahLst/>
            <a:cxnLst/>
            <a:rect l="l" t="t" r="r" b="b"/>
            <a:pathLst>
              <a:path w="5840316" h="6335648">
                <a:moveTo>
                  <a:pt x="0" y="0"/>
                </a:moveTo>
                <a:lnTo>
                  <a:pt x="5840315" y="0"/>
                </a:lnTo>
                <a:lnTo>
                  <a:pt x="5840315" y="6335649"/>
                </a:lnTo>
                <a:lnTo>
                  <a:pt x="0" y="6335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028700" y="1028700"/>
            <a:ext cx="15087871" cy="1923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5"/>
              </a:lnSpc>
            </a:pPr>
            <a:r>
              <a:rPr lang="en-US" sz="6000" b="1" spc="535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CREATING CANDIDATE SYNTHETIC RELATIONSHIPS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952304"/>
            <a:ext cx="16230600" cy="6216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How do we want output?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We built following template: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endParaRPr lang="en-US" sz="3500" dirty="0">
              <a:solidFill>
                <a:srgbClr val="3C6CA8"/>
              </a:solidFill>
              <a:latin typeface="Cy Grotesk Wide" panose="020B0604020202020204" charset="0"/>
              <a:ea typeface="Cy Grotesk Wide"/>
              <a:cs typeface="Cy Grotesk Wide"/>
              <a:sym typeface="Cy Grotesk Wide"/>
            </a:endParaRP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&lt;</a:t>
            </a:r>
            <a:r>
              <a:rPr lang="en-US" sz="3500" dirty="0" err="1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json</a:t>
            </a: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&gt;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{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 "</a:t>
            </a:r>
            <a:r>
              <a:rPr lang="en-US" sz="3500" b="1" dirty="0" err="1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improved_chain_of_thought</a:t>
            </a: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": char*,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 "</a:t>
            </a:r>
            <a:r>
              <a:rPr lang="en-US" sz="35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explanation</a:t>
            </a: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": char*,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 "</a:t>
            </a:r>
            <a:r>
              <a:rPr lang="en-US" sz="3500" b="1" dirty="0" err="1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similarity_score</a:t>
            </a: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": int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}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&lt;/</a:t>
            </a:r>
            <a:r>
              <a:rPr lang="en-US" sz="3500" dirty="0" err="1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json</a:t>
            </a:r>
            <a:r>
              <a:rPr lang="en-US" sz="35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&gt;</a:t>
            </a: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212696">
            <a:off x="-2576439" y="2491000"/>
            <a:ext cx="11797975" cy="12151473"/>
          </a:xfrm>
          <a:custGeom>
            <a:avLst/>
            <a:gdLst/>
            <a:ahLst/>
            <a:cxnLst/>
            <a:rect l="l" t="t" r="r" b="b"/>
            <a:pathLst>
              <a:path w="11797975" h="12151473">
                <a:moveTo>
                  <a:pt x="0" y="0"/>
                </a:moveTo>
                <a:lnTo>
                  <a:pt x="11797975" y="0"/>
                </a:lnTo>
                <a:lnTo>
                  <a:pt x="11797975" y="12151472"/>
                </a:lnTo>
                <a:lnTo>
                  <a:pt x="0" y="1215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127338" y="-1811770"/>
            <a:ext cx="5840316" cy="6335648"/>
          </a:xfrm>
          <a:custGeom>
            <a:avLst/>
            <a:gdLst/>
            <a:ahLst/>
            <a:cxnLst/>
            <a:rect l="l" t="t" r="r" b="b"/>
            <a:pathLst>
              <a:path w="5840316" h="6335648">
                <a:moveTo>
                  <a:pt x="0" y="0"/>
                </a:moveTo>
                <a:lnTo>
                  <a:pt x="5840315" y="0"/>
                </a:lnTo>
                <a:lnTo>
                  <a:pt x="5840315" y="6335649"/>
                </a:lnTo>
                <a:lnTo>
                  <a:pt x="0" y="6335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028700" y="1028700"/>
            <a:ext cx="15087871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5"/>
              </a:lnSpc>
            </a:pPr>
            <a:r>
              <a:rPr lang="en-US" sz="6000" b="1" spc="535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CREATING SYNTHETIC RELATIONSHIPS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352179"/>
            <a:ext cx="16230600" cy="373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We selected a restricted subset of relationships from the initial 12,410 (randomly selected) as follows: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3C6CA8"/>
              </a:solidFill>
              <a:latin typeface="Cy Grotesk Wide" panose="020B0604020202020204" charset="0"/>
              <a:ea typeface="Cy Grotesk Wide"/>
              <a:cs typeface="Cy Grotesk Wide"/>
              <a:sym typeface="Cy Grotesk Wide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1)</a:t>
            </a:r>
            <a:r>
              <a:rPr lang="en-US" sz="30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 We retained relationships with a similarity greater than 3, then sampled for each direction;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2)</a:t>
            </a:r>
            <a:r>
              <a:rPr lang="en-US" sz="3000" dirty="0">
                <a:solidFill>
                  <a:srgbClr val="3C6CA8"/>
                </a:solidFill>
                <a:latin typeface="Cy Grotesk Wide" panose="020B0604020202020204" charset="0"/>
                <a:ea typeface="Cy Grotesk Wide"/>
                <a:cs typeface="Cy Grotesk Wide"/>
                <a:sym typeface="Cy Grotesk Wide"/>
              </a:rPr>
              <a:t> For each direction, we selected relationships based on a probability function of their similarity.</a:t>
            </a:r>
          </a:p>
        </p:txBody>
      </p:sp>
      <p:sp>
        <p:nvSpPr>
          <p:cNvPr id="6" name="Freeform 6"/>
          <p:cNvSpPr/>
          <p:nvPr/>
        </p:nvSpPr>
        <p:spPr>
          <a:xfrm>
            <a:off x="5278531" y="6233061"/>
            <a:ext cx="7730938" cy="1710484"/>
          </a:xfrm>
          <a:custGeom>
            <a:avLst/>
            <a:gdLst/>
            <a:ahLst/>
            <a:cxnLst/>
            <a:rect l="l" t="t" r="r" b="b"/>
            <a:pathLst>
              <a:path w="7730938" h="1710484">
                <a:moveTo>
                  <a:pt x="0" y="0"/>
                </a:moveTo>
                <a:lnTo>
                  <a:pt x="7730938" y="0"/>
                </a:lnTo>
                <a:lnTo>
                  <a:pt x="7730938" y="1710484"/>
                </a:lnTo>
                <a:lnTo>
                  <a:pt x="0" y="17104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1028700" y="8230948"/>
            <a:ext cx="16230600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  <a:spcBef>
                <a:spcPct val="0"/>
              </a:spcBef>
            </a:pPr>
            <a:r>
              <a:rPr lang="en-US" sz="2600" b="1" spc="309" dirty="0">
                <a:solidFill>
                  <a:srgbClr val="3C6CA8"/>
                </a:solidFill>
                <a:latin typeface="Cy Grotesk Wide" panose="020B0604020202020204" charset="0"/>
                <a:ea typeface="Cy Grotesk Wide Bold"/>
                <a:cs typeface="Cy Grotesk Wide Bold"/>
                <a:sym typeface="Cy Grotesk Wide Bold"/>
              </a:rPr>
              <a:t>P.S. We introduced an alpha parameter to control the selection process!</a:t>
            </a:r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300990">
            <a:off x="11452129" y="4704020"/>
            <a:ext cx="10069193" cy="10370891"/>
          </a:xfrm>
          <a:custGeom>
            <a:avLst/>
            <a:gdLst/>
            <a:ahLst/>
            <a:cxnLst/>
            <a:rect l="l" t="t" r="r" b="b"/>
            <a:pathLst>
              <a:path w="10069193" h="10370891">
                <a:moveTo>
                  <a:pt x="0" y="0"/>
                </a:moveTo>
                <a:lnTo>
                  <a:pt x="10069193" y="0"/>
                </a:lnTo>
                <a:lnTo>
                  <a:pt x="10069193" y="10370891"/>
                </a:lnTo>
                <a:lnTo>
                  <a:pt x="0" y="103708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519137" y="573087"/>
            <a:ext cx="15249726" cy="91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000" b="1" spc="594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CONCLUSIONS</a:t>
            </a:r>
          </a:p>
        </p:txBody>
      </p:sp>
      <p:sp>
        <p:nvSpPr>
          <p:cNvPr id="4" name="Freeform 4"/>
          <p:cNvSpPr/>
          <p:nvPr/>
        </p:nvSpPr>
        <p:spPr>
          <a:xfrm rot="10163349">
            <a:off x="-1927634" y="-1930363"/>
            <a:ext cx="7983851" cy="8223067"/>
          </a:xfrm>
          <a:custGeom>
            <a:avLst/>
            <a:gdLst/>
            <a:ahLst/>
            <a:cxnLst/>
            <a:rect l="l" t="t" r="r" b="b"/>
            <a:pathLst>
              <a:path w="7983851" h="8223067">
                <a:moveTo>
                  <a:pt x="0" y="0"/>
                </a:moveTo>
                <a:lnTo>
                  <a:pt x="7983851" y="0"/>
                </a:lnTo>
                <a:lnTo>
                  <a:pt x="7983851" y="8223067"/>
                </a:lnTo>
                <a:lnTo>
                  <a:pt x="0" y="8223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748750" y="1790700"/>
            <a:ext cx="16510550" cy="7467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We obtained a strong baseline using LLM classification;</a:t>
            </a:r>
          </a:p>
          <a:p>
            <a:pPr algn="ctr">
              <a:lnSpc>
                <a:spcPts val="4200"/>
              </a:lnSpc>
            </a:pPr>
            <a:endParaRPr lang="en-US" sz="3000" dirty="0">
              <a:solidFill>
                <a:srgbClr val="3C6CA8"/>
              </a:solidFill>
              <a:latin typeface="Cy Grotesk Wide"/>
              <a:ea typeface="Cy Grotesk Wide"/>
              <a:cs typeface="Cy Grotesk Wide"/>
              <a:sym typeface="Cy Grotesk Wide"/>
            </a:endParaRP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We provide explainability for synthetic relationships;</a:t>
            </a:r>
          </a:p>
          <a:p>
            <a:pPr algn="ctr">
              <a:lnSpc>
                <a:spcPts val="4200"/>
              </a:lnSpc>
            </a:pPr>
            <a:endParaRPr lang="en-US" sz="3000" dirty="0">
              <a:solidFill>
                <a:srgbClr val="3C6CA8"/>
              </a:solidFill>
              <a:latin typeface="Cy Grotesk Wide"/>
              <a:ea typeface="Cy Grotesk Wide"/>
              <a:cs typeface="Cy Grotesk Wide"/>
              <a:sym typeface="Cy Grotesk Wide"/>
            </a:endParaRP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We have started implementing the code for fine-tuning the relationship module;</a:t>
            </a:r>
          </a:p>
          <a:p>
            <a:pPr algn="ctr">
              <a:lnSpc>
                <a:spcPts val="4200"/>
              </a:lnSpc>
            </a:pPr>
            <a:endParaRPr lang="en-US" sz="3000" dirty="0">
              <a:solidFill>
                <a:srgbClr val="3C6CA8"/>
              </a:solidFill>
              <a:latin typeface="Cy Grotesk Wide"/>
              <a:ea typeface="Cy Grotesk Wide"/>
              <a:cs typeface="Cy Grotesk Wide"/>
              <a:sym typeface="Cy Grotesk Wide"/>
            </a:endParaRP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We could leverage ensemble methods combining MLP and LLM;</a:t>
            </a:r>
          </a:p>
          <a:p>
            <a:pPr algn="ctr">
              <a:lnSpc>
                <a:spcPts val="4200"/>
              </a:lnSpc>
            </a:pPr>
            <a:endParaRPr lang="en-US" sz="3000" dirty="0">
              <a:solidFill>
                <a:srgbClr val="3C6CA8"/>
              </a:solidFill>
              <a:latin typeface="Cy Grotesk Wide"/>
              <a:ea typeface="Cy Grotesk Wide"/>
              <a:cs typeface="Cy Grotesk Wide"/>
              <a:sym typeface="Cy Grotesk Wide"/>
            </a:endParaRP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We could refine prompt engineering to enhance LLM classification;</a:t>
            </a:r>
          </a:p>
          <a:p>
            <a:pPr algn="ctr">
              <a:lnSpc>
                <a:spcPts val="4200"/>
              </a:lnSpc>
            </a:pPr>
            <a:endParaRPr lang="en-US" sz="3000" dirty="0">
              <a:solidFill>
                <a:srgbClr val="3C6CA8"/>
              </a:solidFill>
              <a:latin typeface="Cy Grotesk Wide"/>
              <a:ea typeface="Cy Grotesk Wide"/>
              <a:cs typeface="Cy Grotesk Wide"/>
              <a:sym typeface="Cy Grotesk Wide"/>
            </a:endParaRP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We could leverage a data-driven approach, especially for relationship generation.</a:t>
            </a:r>
          </a:p>
          <a:p>
            <a:pPr algn="ctr">
              <a:lnSpc>
                <a:spcPts val="4200"/>
              </a:lnSpc>
            </a:pPr>
            <a:endParaRPr lang="en-US" sz="3000" dirty="0">
              <a:solidFill>
                <a:srgbClr val="3C6CA8"/>
              </a:solidFill>
              <a:latin typeface="Cy Grotesk Wide"/>
              <a:ea typeface="Cy Grotesk Wide"/>
              <a:cs typeface="Cy Grotesk Wide"/>
              <a:sym typeface="Cy Grotesk Wide"/>
            </a:endParaRP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46066" y="5143500"/>
            <a:ext cx="7270702" cy="7488551"/>
          </a:xfrm>
          <a:custGeom>
            <a:avLst/>
            <a:gdLst/>
            <a:ahLst/>
            <a:cxnLst/>
            <a:rect l="l" t="t" r="r" b="b"/>
            <a:pathLst>
              <a:path w="7270702" h="7488551">
                <a:moveTo>
                  <a:pt x="0" y="0"/>
                </a:moveTo>
                <a:lnTo>
                  <a:pt x="7270702" y="0"/>
                </a:lnTo>
                <a:lnTo>
                  <a:pt x="7270702" y="7488551"/>
                </a:lnTo>
                <a:lnTo>
                  <a:pt x="0" y="7488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2749570" y="-507706"/>
            <a:ext cx="5538430" cy="5704376"/>
          </a:xfrm>
          <a:custGeom>
            <a:avLst/>
            <a:gdLst/>
            <a:ahLst/>
            <a:cxnLst/>
            <a:rect l="l" t="t" r="r" b="b"/>
            <a:pathLst>
              <a:path w="5538430" h="5704376">
                <a:moveTo>
                  <a:pt x="0" y="0"/>
                </a:moveTo>
                <a:lnTo>
                  <a:pt x="5538430" y="0"/>
                </a:lnTo>
                <a:lnTo>
                  <a:pt x="5538430" y="5704375"/>
                </a:lnTo>
                <a:lnTo>
                  <a:pt x="0" y="5704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2569694" y="3162300"/>
            <a:ext cx="13148611" cy="407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5000" b="1" spc="1784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Thank you</a:t>
            </a: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605</Words>
  <Application>Microsoft Office PowerPoint</Application>
  <PresentationFormat>Personalizzato</PresentationFormat>
  <Paragraphs>89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1" baseType="lpstr">
      <vt:lpstr>Cy Grotesk Wide</vt:lpstr>
      <vt:lpstr>Cy Grotesk Wide Bold</vt:lpstr>
      <vt:lpstr>Arial</vt:lpstr>
      <vt:lpstr>Lastica Bold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TVB</dc:title>
  <cp:lastModifiedBy>TOMA AURORA</cp:lastModifiedBy>
  <cp:revision>3</cp:revision>
  <dcterms:created xsi:type="dcterms:W3CDTF">2006-08-16T00:00:00Z</dcterms:created>
  <dcterms:modified xsi:type="dcterms:W3CDTF">2025-03-17T22:17:56Z</dcterms:modified>
  <dc:identifier>DAGiBeN6x0k</dc:identifier>
</cp:coreProperties>
</file>